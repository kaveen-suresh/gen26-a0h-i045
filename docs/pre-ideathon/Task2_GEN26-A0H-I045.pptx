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een Suresh" userId="84ec8c13c29bd38d" providerId="LiveId" clId="{9246FB3E-1B66-4BE3-BE0C-251674744707}"/>
    <pc:docChg chg="modSld">
      <pc:chgData name="Kaveen Suresh" userId="84ec8c13c29bd38d" providerId="LiveId" clId="{9246FB3E-1B66-4BE3-BE0C-251674744707}" dt="2026-10-10T09:51:11.214" v="159" actId="20577"/>
      <pc:docMkLst>
        <pc:docMk/>
      </pc:docMkLst>
      <pc:sldChg chg="modSp mod">
        <pc:chgData name="Kaveen Suresh" userId="84ec8c13c29bd38d" providerId="LiveId" clId="{9246FB3E-1B66-4BE3-BE0C-251674744707}" dt="2026-10-10T09:51:11.214" v="159" actId="20577"/>
        <pc:sldMkLst>
          <pc:docMk/>
          <pc:sldMk cId="0" sldId="256"/>
        </pc:sldMkLst>
        <pc:spChg chg="mod">
          <ac:chgData name="Kaveen Suresh" userId="84ec8c13c29bd38d" providerId="LiveId" clId="{9246FB3E-1B66-4BE3-BE0C-251674744707}" dt="2026-10-10T09:51:11.214" v="159" actId="20577"/>
          <ac:spMkLst>
            <pc:docMk/>
            <pc:sldMk cId="0" sldId="256"/>
            <ac:spMk id="15" creationId="{00000000-0000-0000-0000-000000000000}"/>
          </ac:spMkLst>
        </pc:spChg>
      </pc:sldChg>
      <pc:sldChg chg="modSp mod">
        <pc:chgData name="Kaveen Suresh" userId="84ec8c13c29bd38d" providerId="LiveId" clId="{9246FB3E-1B66-4BE3-BE0C-251674744707}" dt="2026-10-09T14:41:49.544" v="116" actId="20577"/>
        <pc:sldMkLst>
          <pc:docMk/>
          <pc:sldMk cId="0" sldId="263"/>
        </pc:sldMkLst>
        <pc:spChg chg="mod">
          <ac:chgData name="Kaveen Suresh" userId="84ec8c13c29bd38d" providerId="LiveId" clId="{9246FB3E-1B66-4BE3-BE0C-251674744707}" dt="2026-10-09T14:41:49.544" v="116" actId="20577"/>
          <ac:spMkLst>
            <pc:docMk/>
            <pc:sldMk cId="0" sldId="263"/>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995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5" name="Cover Fields"/>
          <p:cNvSpPr txBox="1"/>
          <p:nvPr/>
        </p:nvSpPr>
        <p:spPr>
          <a:xfrm>
            <a:off x="548640" y="2750000"/>
            <a:ext cx="5400000" cy="3140054"/>
          </a:xfrm>
          <a:prstGeom prst="rect">
            <a:avLst/>
          </a:prstGeom>
          <a:noFill/>
          <a:ln/>
        </p:spPr>
        <p:txBody>
          <a:bodyPr wrap="square" lIns="0" tIns="0" rIns="0" bIns="0" rtlCol="0" anchor="t"/>
          <a:lstStyle/>
          <a:p>
            <a:pPr marL="279400" indent="-279400">
              <a:spcAft>
                <a:spcPts val="200"/>
              </a:spcAft>
              <a:buClr>
                <a:schemeClr val="accent3"/>
              </a:buClr>
              <a:buSzPct val="100000"/>
              <a:buFontTx/>
              <a:buChar char="•"/>
            </a:pPr>
            <a:r>
              <a:rPr lang="en-US" sz="1600" b="1" dirty="0">
                <a:solidFill>
                  <a:schemeClr val="bg1"/>
                </a:solidFill>
              </a:rPr>
              <a:t>Team Name – </a:t>
            </a:r>
            <a:r>
              <a:rPr lang="en-US" sz="1600" dirty="0">
                <a:solidFill>
                  <a:schemeClr val="bg1"/>
                </a:solidFill>
              </a:rPr>
              <a:t>Sneakers</a:t>
            </a:r>
            <a:endParaRPr lang="en-US" sz="1600" dirty="0"/>
          </a:p>
          <a:p>
            <a:pPr marL="279400" indent="-279400">
              <a:spcAft>
                <a:spcPts val="200"/>
              </a:spcAft>
              <a:buClr>
                <a:schemeClr val="accent3"/>
              </a:buClr>
              <a:buSzPct val="100000"/>
              <a:buChar char="•"/>
            </a:pPr>
            <a:r>
              <a:rPr lang="en-US" sz="1600" b="1" dirty="0">
                <a:solidFill>
                  <a:schemeClr val="bg1"/>
                </a:solidFill>
              </a:rPr>
              <a:t> Members –</a:t>
            </a:r>
            <a:endParaRPr lang="en-US" sz="1600" dirty="0"/>
          </a:p>
          <a:p>
            <a:pPr marL="279400" indent="0">
              <a:spcAft>
                <a:spcPts val="200"/>
              </a:spcAft>
              <a:buNone/>
            </a:pPr>
            <a:r>
              <a:rPr lang="en-US" sz="1600" dirty="0">
                <a:solidFill>
                  <a:schemeClr val="bg1"/>
                </a:solidFill>
              </a:rPr>
              <a:t>S. Kaveen [Team Leader] – CB.SC.U4CSE26045</a:t>
            </a:r>
            <a:endParaRPr lang="en-US" sz="1600" dirty="0"/>
          </a:p>
          <a:p>
            <a:pPr marL="279400" indent="0">
              <a:spcAft>
                <a:spcPts val="200"/>
              </a:spcAft>
              <a:buNone/>
            </a:pPr>
            <a:r>
              <a:rPr lang="en-US" sz="1600" dirty="0">
                <a:solidFill>
                  <a:schemeClr val="bg1"/>
                </a:solidFill>
              </a:rPr>
              <a:t>Alen Jomon – CB.SC.U4CSE26006</a:t>
            </a:r>
            <a:endParaRPr lang="en-US" sz="1600" dirty="0"/>
          </a:p>
          <a:p>
            <a:pPr marL="279400" indent="0">
              <a:spcAft>
                <a:spcPts val="200"/>
              </a:spcAft>
              <a:buNone/>
            </a:pPr>
            <a:r>
              <a:rPr lang="en-US" sz="1600" dirty="0">
                <a:solidFill>
                  <a:schemeClr val="bg1"/>
                </a:solidFill>
              </a:rPr>
              <a:t>Abijith Raja .S – CB.SC.U4CSE26003</a:t>
            </a:r>
            <a:endParaRPr lang="en-US" sz="1600" dirty="0"/>
          </a:p>
          <a:p>
            <a:pPr marL="279400" indent="0">
              <a:spcAft>
                <a:spcPts val="900"/>
              </a:spcAft>
              <a:buNone/>
            </a:pPr>
            <a:r>
              <a:rPr lang="en-US" sz="1600" dirty="0">
                <a:solidFill>
                  <a:schemeClr val="bg1"/>
                </a:solidFill>
              </a:rPr>
              <a:t>Iniyan J – CB.EN.U4ARE26022</a:t>
            </a:r>
            <a:endParaRPr lang="en-US" sz="1600" dirty="0"/>
          </a:p>
          <a:p>
            <a:pPr marL="279400" indent="-279400">
              <a:spcAft>
                <a:spcPts val="900"/>
              </a:spcAft>
              <a:buClr>
                <a:schemeClr val="accent3"/>
              </a:buClr>
              <a:buSzPct val="100000"/>
              <a:buChar char="•"/>
            </a:pPr>
            <a:r>
              <a:rPr lang="en-US" sz="1600" b="1" dirty="0">
                <a:solidFill>
                  <a:schemeClr val="bg1"/>
                </a:solidFill>
              </a:rPr>
              <a:t>Selected Domain – </a:t>
            </a:r>
            <a:r>
              <a:rPr lang="en-US" sz="1600" dirty="0">
                <a:solidFill>
                  <a:schemeClr val="bg1"/>
                </a:solidFill>
              </a:rPr>
              <a:t>Domain 5</a:t>
            </a:r>
            <a:endParaRPr lang="en-US" sz="1600" dirty="0"/>
          </a:p>
          <a:p>
            <a:pPr marL="279400" indent="-279400">
              <a:spcAft>
                <a:spcPts val="0"/>
              </a:spcAft>
              <a:buClr>
                <a:schemeClr val="accent3"/>
              </a:buClr>
              <a:buSzPct val="100000"/>
              <a:buChar char="•"/>
            </a:pPr>
            <a:r>
              <a:rPr lang="en-US" sz="1600" b="1" dirty="0">
                <a:solidFill>
                  <a:schemeClr val="bg1"/>
                </a:solidFill>
              </a:rPr>
              <a:t>Problem Statement – </a:t>
            </a:r>
            <a:r>
              <a:rPr lang="en-US" sz="1600" dirty="0">
                <a:solidFill>
                  <a:schemeClr val="bg1"/>
                </a:solidFill>
              </a:rPr>
              <a:t>Farmers struggle to sell their produce at fair prices, protect and care for their crops, and get proper guidance on maintaining crop health, leaving them dependent on guesswork and middlemen.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10" name="Prompts"/>
          <p:cNvSpPr txBox="1"/>
          <p:nvPr/>
        </p:nvSpPr>
        <p:spPr>
          <a:xfrm>
            <a:off x="243038" y="1426945"/>
            <a:ext cx="10424160" cy="4356234"/>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2000" dirty="0">
                <a:solidFill>
                  <a:schemeClr val="tx1"/>
                </a:solidFill>
              </a:rPr>
              <a:t>What exactly needs to be solved?</a:t>
            </a:r>
            <a:endParaRPr lang="en-US" sz="2000" dirty="0"/>
          </a:p>
          <a:p>
            <a:pPr>
              <a:spcAft>
                <a:spcPts val="1000"/>
              </a:spcAft>
              <a:buClr>
                <a:schemeClr val="accent1"/>
              </a:buClr>
              <a:buSzPct val="100000"/>
            </a:pPr>
            <a:r>
              <a:rPr lang="en-US" sz="2000" dirty="0"/>
              <a:t>The main problem farmers face these days are </a:t>
            </a:r>
            <a:r>
              <a:rPr lang="en-IN" sz="2000" dirty="0"/>
              <a:t>unpredictable weather, rising costs for supplies, and water shortages. So, The primary challenges to be solved are the lack of accessible guidance for crop health and the economic vulnerabilities in the agricultural supply chain. Specifically, solutions must address the impacts of unpredictable weather, rising supply costs, and water shortages on crop yield. Additionally, there is a need to provide farmers with reliable crop management guidance to eliminate reliance on guesswork, and to establish a transparent market mechanism that ensures fair pricing by removing dependency on middlemen.</a:t>
            </a:r>
            <a:endParaRPr lang="en-US" sz="2000" dirty="0"/>
          </a:p>
          <a:p>
            <a:pPr marL="279400" indent="-279400">
              <a:spcAft>
                <a:spcPts val="1000"/>
              </a:spcAft>
              <a:buClr>
                <a:schemeClr val="accent1"/>
              </a:buClr>
              <a:buSzPct val="100000"/>
              <a:buChar char="•"/>
            </a:pPr>
            <a:r>
              <a:rPr lang="en-US" sz="2000" dirty="0">
                <a:solidFill>
                  <a:schemeClr val="tx1"/>
                </a:solidFill>
              </a:rPr>
              <a:t>Why is it important right now?</a:t>
            </a:r>
          </a:p>
          <a:p>
            <a:pPr>
              <a:spcAft>
                <a:spcPts val="1000"/>
              </a:spcAft>
              <a:buClr>
                <a:schemeClr val="accent1"/>
              </a:buClr>
              <a:buSzPct val="100000"/>
            </a:pPr>
            <a:r>
              <a:rPr lang="en-IN" sz="2000" dirty="0"/>
              <a:t>It is important right now because farmers are facing severe challenges today. Bad weather and water shortages are ruining crops, making guesswork very risky. At the same time, the cost of farming supplies is going up, and middlemen are taking away their profits. If we do not solve this now, farmers will fall into debt and lose their farms, which will also hurt the food supply for everyone.</a:t>
            </a:r>
            <a:endParaRPr lang="en-US" sz="2000" dirty="0">
              <a:solidFill>
                <a:schemeClr val="tx1"/>
              </a:solidFill>
            </a:endParaRP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Primary users: </a:t>
            </a:r>
            <a:r>
              <a:rPr lang="en-US" sz="2000" dirty="0">
                <a:solidFill>
                  <a:schemeClr val="tx1"/>
                </a:solidFill>
              </a:rPr>
              <a:t>Small and marginal farmers who grow crops and sell them on their own.</a:t>
            </a:r>
            <a:endParaRPr lang="en-US" sz="2000" dirty="0"/>
          </a:p>
          <a:p>
            <a:pPr marL="279400" indent="-279400">
              <a:spcAft>
                <a:spcPts val="1200"/>
              </a:spcAft>
              <a:buClr>
                <a:schemeClr val="accent1"/>
              </a:buClr>
              <a:buSzPct val="100000"/>
              <a:buChar char="•"/>
            </a:pPr>
            <a:r>
              <a:rPr lang="en-US" sz="2000" b="1" dirty="0">
                <a:solidFill>
                  <a:schemeClr val="tx1"/>
                </a:solidFill>
              </a:rPr>
              <a:t>Also affected: </a:t>
            </a:r>
            <a:r>
              <a:rPr lang="en-US" sz="2000" dirty="0">
                <a:solidFill>
                  <a:schemeClr val="tx1"/>
                </a:solidFill>
              </a:rPr>
              <a:t>Farm workers and their families, and farmer groups in villages.</a:t>
            </a:r>
            <a:endParaRPr lang="en-US" sz="2000" dirty="0"/>
          </a:p>
          <a:p>
            <a:pPr marL="279400" indent="-279400">
              <a:spcAft>
                <a:spcPts val="1200"/>
              </a:spcAft>
              <a:buClr>
                <a:schemeClr val="accent1"/>
              </a:buClr>
              <a:buSzPct val="100000"/>
              <a:buChar char="•"/>
            </a:pPr>
            <a:r>
              <a:rPr lang="en-US" sz="2000" b="1" dirty="0">
                <a:solidFill>
                  <a:schemeClr val="tx1"/>
                </a:solidFill>
              </a:rPr>
              <a:t>Other stakeholders: </a:t>
            </a:r>
            <a:r>
              <a:rPr lang="en-US" sz="2000" dirty="0">
                <a:solidFill>
                  <a:schemeClr val="tx1"/>
                </a:solidFill>
              </a:rPr>
              <a:t>Buyers such as shops, hotels and food companies, and agriculture officers who guide farmers.</a:t>
            </a:r>
            <a:endParaRPr lang="en-US" sz="2000" dirty="0"/>
          </a:p>
          <a:p>
            <a:pPr marL="279400" indent="-279400">
              <a:spcAft>
                <a:spcPts val="1200"/>
              </a:spcAft>
              <a:buClr>
                <a:schemeClr val="accent1"/>
              </a:buClr>
              <a:buSzPct val="100000"/>
              <a:buChar char="•"/>
            </a:pPr>
            <a:r>
              <a:rPr lang="en-US" sz="2000" b="1" dirty="0">
                <a:solidFill>
                  <a:schemeClr val="tx1"/>
                </a:solidFill>
              </a:rPr>
              <a:t>Who benefits if solved: </a:t>
            </a:r>
            <a:r>
              <a:rPr lang="en-US" sz="2000" dirty="0">
                <a:solidFill>
                  <a:schemeClr val="tx1"/>
                </a:solidFill>
              </a:rPr>
              <a:t>Farmers earn more and lose less, buyers get fresh produce at fair prices, and everyone gets a steadier food supply.</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How farmers decide today: </a:t>
            </a:r>
            <a:r>
              <a:rPr lang="en-US" sz="2000" dirty="0">
                <a:solidFill>
                  <a:schemeClr val="tx1"/>
                </a:solidFill>
              </a:rPr>
              <a:t>Mostly by habit, past experience and advice from neighbours.</a:t>
            </a:r>
            <a:endParaRPr lang="en-US" sz="2000" dirty="0"/>
          </a:p>
          <a:p>
            <a:pPr marL="279400" indent="-279400">
              <a:spcAft>
                <a:spcPts val="1200"/>
              </a:spcAft>
              <a:buClr>
                <a:schemeClr val="accent1"/>
              </a:buClr>
              <a:buSzPct val="100000"/>
              <a:buChar char="•"/>
            </a:pPr>
            <a:r>
              <a:rPr lang="en-US" sz="2000" b="1" dirty="0">
                <a:solidFill>
                  <a:schemeClr val="tx1"/>
                </a:solidFill>
              </a:rPr>
              <a:t>Selling: </a:t>
            </a:r>
            <a:r>
              <a:rPr lang="en-US" sz="2000" dirty="0">
                <a:solidFill>
                  <a:schemeClr val="tx1"/>
                </a:solidFill>
              </a:rPr>
              <a:t>Many farmers sell through middlemen or local markets and accept the price offered.</a:t>
            </a:r>
            <a:endParaRPr lang="en-US" sz="2000" dirty="0"/>
          </a:p>
          <a:p>
            <a:pPr marL="279400" indent="-279400">
              <a:spcAft>
                <a:spcPts val="1200"/>
              </a:spcAft>
              <a:buClr>
                <a:schemeClr val="accent1"/>
              </a:buClr>
              <a:buSzPct val="100000"/>
              <a:buChar char="•"/>
            </a:pPr>
            <a:r>
              <a:rPr lang="en-US" sz="2000" b="1" dirty="0">
                <a:solidFill>
                  <a:schemeClr val="tx1"/>
                </a:solidFill>
              </a:rPr>
              <a:t>Crop care: </a:t>
            </a:r>
            <a:r>
              <a:rPr lang="en-US" sz="2000" dirty="0">
                <a:solidFill>
                  <a:schemeClr val="tx1"/>
                </a:solidFill>
              </a:rPr>
              <a:t>Diseases are noticed late, and experts are far away or hard to reach.</a:t>
            </a:r>
            <a:endParaRPr lang="en-US" sz="2000" dirty="0"/>
          </a:p>
          <a:p>
            <a:pPr marL="279400" indent="-279400">
              <a:spcAft>
                <a:spcPts val="1200"/>
              </a:spcAft>
              <a:buClr>
                <a:schemeClr val="accent1"/>
              </a:buClr>
              <a:buSzPct val="100000"/>
              <a:buChar char="•"/>
            </a:pPr>
            <a:r>
              <a:rPr lang="en-US" sz="2000" b="1" dirty="0">
                <a:solidFill>
                  <a:schemeClr val="tx1"/>
                </a:solidFill>
              </a:rPr>
              <a:t>Water and weather: </a:t>
            </a:r>
            <a:r>
              <a:rPr lang="en-US" sz="2000" dirty="0">
                <a:solidFill>
                  <a:schemeClr val="tx1"/>
                </a:solidFill>
              </a:rPr>
              <a:t>Weather is unpredictable and water is short, so farmers guess when and how much to water.</a:t>
            </a:r>
            <a:endParaRPr lang="en-US" sz="2000" dirty="0"/>
          </a:p>
          <a:p>
            <a:pPr marL="279400" indent="-279400">
              <a:spcAft>
                <a:spcPts val="1200"/>
              </a:spcAft>
              <a:buClr>
                <a:schemeClr val="accent1"/>
              </a:buClr>
              <a:buSzPct val="100000"/>
              <a:buChar char="•"/>
            </a:pPr>
            <a:r>
              <a:rPr lang="en-US" sz="2000" b="1" dirty="0">
                <a:solidFill>
                  <a:schemeClr val="tx1"/>
                </a:solidFill>
              </a:rPr>
              <a:t>Today's steps: </a:t>
            </a:r>
            <a:r>
              <a:rPr lang="en-US" sz="2000" dirty="0">
                <a:solidFill>
                  <a:schemeClr val="tx1"/>
                </a:solidFill>
              </a:rPr>
              <a:t>Sow by habit → water by guess → notice the problem late → ask a neighbour or shop → sell to a middleman.</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Main difficulties: </a:t>
            </a:r>
            <a:r>
              <a:rPr lang="en-US" sz="2000" dirty="0">
                <a:solidFill>
                  <a:schemeClr val="tx1"/>
                </a:solidFill>
              </a:rPr>
              <a:t>Getting a fair price, spotting crop diseases early, knowing when to water, and protecting the farm from theft.</a:t>
            </a:r>
            <a:endParaRPr lang="en-US" sz="2000" dirty="0"/>
          </a:p>
          <a:p>
            <a:pPr marL="279400" indent="-279400">
              <a:spcAft>
                <a:spcPts val="1200"/>
              </a:spcAft>
              <a:buClr>
                <a:schemeClr val="accent1"/>
              </a:buClr>
              <a:buSzPct val="100000"/>
              <a:buChar char="•"/>
            </a:pPr>
            <a:r>
              <a:rPr lang="en-US" sz="2000" b="1" dirty="0">
                <a:solidFill>
                  <a:schemeClr val="tx1"/>
                </a:solidFill>
              </a:rPr>
              <a:t>Root causes: </a:t>
            </a:r>
            <a:r>
              <a:rPr lang="en-US" sz="2000" dirty="0">
                <a:solidFill>
                  <a:schemeClr val="tx1"/>
                </a:solidFill>
              </a:rPr>
              <a:t>Farmers have no direct link to buyers, little access to experts, and advice is not in simple local language.</a:t>
            </a:r>
            <a:endParaRPr lang="en-US" sz="2000" dirty="0"/>
          </a:p>
          <a:p>
            <a:pPr marL="279400" indent="-279400">
              <a:spcAft>
                <a:spcPts val="1200"/>
              </a:spcAft>
              <a:buClr>
                <a:schemeClr val="accent1"/>
              </a:buClr>
              <a:buSzPct val="100000"/>
              <a:buChar char="•"/>
            </a:pPr>
            <a:r>
              <a:rPr lang="en-US" sz="2000" b="1" dirty="0">
                <a:solidFill>
                  <a:schemeClr val="tx1"/>
                </a:solidFill>
              </a:rPr>
              <a:t>Also: </a:t>
            </a:r>
            <a:r>
              <a:rPr lang="en-US" sz="2000" dirty="0">
                <a:solidFill>
                  <a:schemeClr val="tx1"/>
                </a:solidFill>
              </a:rPr>
              <a:t>Useful tools are spread across many apps, so most farmers use none of them.</a:t>
            </a:r>
            <a:endParaRPr lang="en-US" sz="2000" dirty="0"/>
          </a:p>
          <a:p>
            <a:pPr marL="279400" indent="-279400">
              <a:spcAft>
                <a:spcPts val="1200"/>
              </a:spcAft>
              <a:buClr>
                <a:schemeClr val="accent1"/>
              </a:buClr>
              <a:buSzPct val="100000"/>
              <a:buChar char="•"/>
            </a:pPr>
            <a:r>
              <a:rPr lang="en-US" sz="2000" b="1" dirty="0">
                <a:solidFill>
                  <a:schemeClr val="tx1"/>
                </a:solidFill>
              </a:rPr>
              <a:t>If left unsolved: </a:t>
            </a:r>
            <a:r>
              <a:rPr lang="en-US" sz="2000" dirty="0">
                <a:solidFill>
                  <a:schemeClr val="tx1"/>
                </a:solidFill>
              </a:rPr>
              <a:t>Crops are lost, water and money are wasted, farmers fall into debt, and some leave farming, which hurts our food supply.</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Kisan Call Centre (helpline): </a:t>
            </a:r>
            <a:r>
              <a:rPr lang="en-US" sz="2000" dirty="0">
                <a:solidFill>
                  <a:schemeClr val="tx1"/>
                </a:solidFill>
              </a:rPr>
              <a:t>Gives advice by phone, but it is not instant and the expert cannot see the crop.</a:t>
            </a:r>
            <a:endParaRPr lang="en-US" sz="2000" dirty="0"/>
          </a:p>
          <a:p>
            <a:pPr marL="279400" indent="-279400">
              <a:spcAft>
                <a:spcPts val="1200"/>
              </a:spcAft>
              <a:buClr>
                <a:schemeClr val="accent1"/>
              </a:buClr>
              <a:buSzPct val="100000"/>
              <a:buChar char="•"/>
            </a:pPr>
            <a:r>
              <a:rPr lang="en-US" sz="2000" b="1" dirty="0">
                <a:solidFill>
                  <a:schemeClr val="tx1"/>
                </a:solidFill>
              </a:rPr>
              <a:t>Online markets like e-NAM: </a:t>
            </a:r>
            <a:r>
              <a:rPr lang="en-US" sz="2000" dirty="0">
                <a:solidFill>
                  <a:schemeClr val="tx1"/>
                </a:solidFill>
              </a:rPr>
              <a:t>Help sell online, but can be hard for small farmers to use.</a:t>
            </a:r>
            <a:endParaRPr lang="en-US" sz="2000" dirty="0"/>
          </a:p>
          <a:p>
            <a:pPr marL="279400" indent="-279400">
              <a:spcAft>
                <a:spcPts val="1200"/>
              </a:spcAft>
              <a:buClr>
                <a:schemeClr val="accent1"/>
              </a:buClr>
              <a:buSzPct val="100000"/>
              <a:buChar char="•"/>
            </a:pPr>
            <a:r>
              <a:rPr lang="en-US" sz="2000" b="1" dirty="0">
                <a:solidFill>
                  <a:schemeClr val="tx1"/>
                </a:solidFill>
              </a:rPr>
              <a:t>Plant disease apps: </a:t>
            </a:r>
            <a:r>
              <a:rPr lang="en-US" sz="2000" dirty="0">
                <a:solidFill>
                  <a:schemeClr val="tx1"/>
                </a:solidFill>
              </a:rPr>
              <a:t>Find diseases from photos, but do not help with selling or farm safety.</a:t>
            </a:r>
            <a:endParaRPr lang="en-US" sz="2000" dirty="0"/>
          </a:p>
          <a:p>
            <a:pPr marL="279400" indent="-279400">
              <a:spcAft>
                <a:spcPts val="1200"/>
              </a:spcAft>
              <a:buClr>
                <a:schemeClr val="accent1"/>
              </a:buClr>
              <a:buSzPct val="100000"/>
              <a:buChar char="•"/>
            </a:pPr>
            <a:r>
              <a:rPr lang="en-US" sz="2000" b="1" dirty="0">
                <a:solidFill>
                  <a:schemeClr val="tx1"/>
                </a:solidFill>
              </a:rPr>
              <a:t>Weather apps and CCTV products: </a:t>
            </a:r>
            <a:r>
              <a:rPr lang="en-US" sz="2000" dirty="0">
                <a:solidFill>
                  <a:schemeClr val="tx1"/>
                </a:solidFill>
              </a:rPr>
              <a:t>Weather apps give general forecasts, not crop advice. CCTV is sold separately.</a:t>
            </a:r>
            <a:endParaRPr lang="en-US" sz="2000" dirty="0"/>
          </a:p>
          <a:p>
            <a:pPr marL="279400" indent="-279400">
              <a:spcAft>
                <a:spcPts val="1200"/>
              </a:spcAft>
              <a:buClr>
                <a:schemeClr val="accent1"/>
              </a:buClr>
              <a:buSzPct val="100000"/>
              <a:buChar char="•"/>
            </a:pPr>
            <a:r>
              <a:rPr lang="en-US" sz="2000" b="1" dirty="0">
                <a:solidFill>
                  <a:schemeClr val="tx1"/>
                </a:solidFill>
              </a:rPr>
              <a:t>The gap: </a:t>
            </a:r>
            <a:r>
              <a:rPr lang="en-US" sz="2000" dirty="0">
                <a:solidFill>
                  <a:schemeClr val="tx1"/>
                </a:solidFill>
              </a:rPr>
              <a:t>There is no single, simple, local-language app that does all of this together.</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Hardware: </a:t>
            </a:r>
            <a:r>
              <a:rPr lang="en-US" sz="2000" dirty="0">
                <a:solidFill>
                  <a:schemeClr val="tx1"/>
                </a:solidFill>
              </a:rPr>
              <a:t>Smartphones for farmers (low-end Android is enough), CCTV cameras at the farm, internet connection, and cloud servers. Soil moisture sensors are optional.</a:t>
            </a:r>
            <a:endParaRPr lang="en-US" sz="2000" dirty="0"/>
          </a:p>
          <a:p>
            <a:pPr marL="279400" indent="-279400">
              <a:spcAft>
                <a:spcPts val="1200"/>
              </a:spcAft>
              <a:buClr>
                <a:schemeClr val="accent1"/>
              </a:buClr>
              <a:buSzPct val="100000"/>
              <a:buChar char="•"/>
            </a:pPr>
            <a:r>
              <a:rPr lang="en-US" sz="2000" b="1" dirty="0">
                <a:solidFill>
                  <a:schemeClr val="tx1"/>
                </a:solidFill>
              </a:rPr>
              <a:t>Software: </a:t>
            </a:r>
            <a:r>
              <a:rPr lang="en-US" sz="2000" dirty="0">
                <a:solidFill>
                  <a:schemeClr val="tx1"/>
                </a:solidFill>
              </a:rPr>
              <a:t>Mobile app, backend server and database, an AI model that finds crop diseases from photos, weather and satellite data, and an AI voice assistant with translation. SMS and WhatsApp alerts.</a:t>
            </a:r>
            <a:endParaRPr lang="en-US" sz="2000" dirty="0"/>
          </a:p>
          <a:p>
            <a:pPr marL="279400" indent="-279400">
              <a:spcAft>
                <a:spcPts val="1200"/>
              </a:spcAft>
              <a:buClr>
                <a:schemeClr val="accent1"/>
              </a:buClr>
              <a:buSzPct val="100000"/>
              <a:buChar char="•"/>
            </a:pPr>
            <a:r>
              <a:rPr lang="en-US" sz="2000" b="1" dirty="0">
                <a:solidFill>
                  <a:schemeClr val="tx1"/>
                </a:solidFill>
              </a:rPr>
              <a:t>Other resources</a:t>
            </a:r>
            <a:r>
              <a:rPr lang="en-US" sz="2000" dirty="0">
                <a:solidFill>
                  <a:schemeClr val="tx1"/>
                </a:solidFill>
              </a:rPr>
              <a:t>: Sponsorships, cooperation of weather agencies and input of all the existing plant diseases. </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Sneakers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057400"/>
            <a:ext cx="10424160" cy="4100000"/>
          </a:xfrm>
          <a:prstGeom prst="rect">
            <a:avLst/>
          </a:prstGeom>
          <a:noFill/>
          <a:ln/>
        </p:spPr>
        <p:txBody>
          <a:bodyPr wrap="square" lIns="0" tIns="0" rIns="0" bIns="0" rtlCol="0" anchor="t"/>
          <a:lstStyle/>
          <a:p>
            <a:pPr marL="279400" indent="-279400">
              <a:spcAft>
                <a:spcPts val="1200"/>
              </a:spcAft>
              <a:buClr>
                <a:schemeClr val="accent1"/>
              </a:buClr>
              <a:buSzPct val="100000"/>
              <a:buChar char="•"/>
            </a:pPr>
            <a:r>
              <a:rPr lang="en-US" sz="2000" b="1" dirty="0">
                <a:solidFill>
                  <a:schemeClr val="tx1"/>
                </a:solidFill>
              </a:rPr>
              <a:t>What we will do:</a:t>
            </a:r>
            <a:r>
              <a:rPr lang="en-US" sz="2000" dirty="0">
                <a:solidFill>
                  <a:schemeClr val="tx1"/>
                </a:solidFill>
              </a:rPr>
              <a:t> Bring all the separate resources available to farmers into one </a:t>
            </a:r>
            <a:r>
              <a:rPr lang="en-US" sz="2000">
                <a:solidFill>
                  <a:schemeClr val="tx1"/>
                </a:solidFill>
              </a:rPr>
              <a:t>single online </a:t>
            </a:r>
            <a:r>
              <a:rPr lang="en-US" sz="2000" dirty="0">
                <a:solidFill>
                  <a:schemeClr val="tx1"/>
                </a:solidFill>
              </a:rPr>
              <a:t>platform.</a:t>
            </a:r>
            <a:r>
              <a:rPr lang="en-US" sz="2000" b="1" dirty="0">
                <a:solidFill>
                  <a:schemeClr val="tx1"/>
                </a:solidFill>
              </a:rPr>
              <a:t> </a:t>
            </a:r>
          </a:p>
          <a:p>
            <a:pPr marL="279400" indent="-279400">
              <a:spcAft>
                <a:spcPts val="1200"/>
              </a:spcAft>
              <a:buClr>
                <a:schemeClr val="accent1"/>
              </a:buClr>
              <a:buSzPct val="100000"/>
              <a:buChar char="•"/>
            </a:pPr>
            <a:r>
              <a:rPr lang="en-US" sz="2000" b="1" dirty="0">
                <a:solidFill>
                  <a:schemeClr val="tx1"/>
                </a:solidFill>
              </a:rPr>
              <a:t>What we want to improve: </a:t>
            </a:r>
            <a:r>
              <a:rPr lang="en-US" sz="2000" dirty="0">
                <a:solidFill>
                  <a:schemeClr val="tx1"/>
                </a:solidFill>
              </a:rPr>
              <a:t>Catch diseases early, water correctly, sell directly at fair prices, and keep farms safe.</a:t>
            </a:r>
            <a:endParaRPr lang="en-US" sz="2000" dirty="0"/>
          </a:p>
          <a:p>
            <a:pPr marL="279400" indent="-279400">
              <a:spcAft>
                <a:spcPts val="1200"/>
              </a:spcAft>
              <a:buClr>
                <a:schemeClr val="accent1"/>
              </a:buClr>
              <a:buSzPct val="100000"/>
              <a:buChar char="•"/>
            </a:pPr>
            <a:r>
              <a:rPr lang="en-US" sz="2000" b="1" dirty="0">
                <a:solidFill>
                  <a:schemeClr val="tx1"/>
                </a:solidFill>
              </a:rPr>
              <a:t>Success looks like: </a:t>
            </a:r>
            <a:r>
              <a:rPr lang="en-US" sz="2000" dirty="0">
                <a:solidFill>
                  <a:schemeClr val="tx1"/>
                </a:solidFill>
              </a:rPr>
              <a:t>Fewer crops lost, less water wasted, higher farmer income, quick theft alerts, and more farmers using the app and completing deals.</a:t>
            </a:r>
            <a:endParaRPr lang="en-US" sz="20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926</Words>
  <Application>Microsoft Office PowerPoint</Application>
  <PresentationFormat>Widescreen</PresentationFormat>
  <Paragraphs>75</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Kaveen Suresh</cp:lastModifiedBy>
  <cp:revision>2</cp:revision>
  <dcterms:created xsi:type="dcterms:W3CDTF">2026-10-07T15:27:40Z</dcterms:created>
  <dcterms:modified xsi:type="dcterms:W3CDTF">2026-10-10T09:51:20Z</dcterms:modified>
</cp:coreProperties>
</file>